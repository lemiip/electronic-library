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58" r:id="rId5"/>
    <p:sldId id="271" r:id="rId6"/>
    <p:sldId id="262" r:id="rId7"/>
    <p:sldId id="259" r:id="rId8"/>
    <p:sldId id="263" r:id="rId9"/>
    <p:sldId id="260" r:id="rId10"/>
    <p:sldId id="272" r:id="rId11"/>
    <p:sldId id="273" r:id="rId12"/>
    <p:sldId id="274" r:id="rId13"/>
    <p:sldId id="275" r:id="rId14"/>
    <p:sldId id="26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E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51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28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61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21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69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84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326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2344" y="0"/>
            <a:ext cx="12191695" cy="6858000"/>
          </a:xfrm>
          <a:prstGeom prst="rect">
            <a:avLst/>
          </a:prstGeom>
          <a:solidFill>
            <a:srgbClr val="1D3557">
              <a:alpha val="84000"/>
            </a:srgbClr>
          </a:solidFill>
          <a:ln w="12700">
            <a:solidFill>
              <a:srgbClr val="1D3557">
                <a:alpha val="0"/>
              </a:srgbClr>
            </a:solidFill>
            <a:prstDash val="solid"/>
          </a:ln>
        </p:spPr>
      </p:sp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895546"/>
            <a:ext cx="5742432" cy="40158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D7EA"/>
                </a:solidFill>
              </a:rPr>
              <a:t>КУРСОВАЯ РАБОТА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" y="14173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Разработка онлайн-справочной системы для электронной библиотеки</a:t>
            </a:r>
            <a:endParaRPr lang="en-US" sz="3200" b="1" dirty="0"/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6EEF6"/>
                </a:solidFill>
              </a:rPr>
              <a:t>E-Library - многостраничный сайт с каталогом книг, поиском, избранным и формой обратной связи.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5166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6"/>
                </a:solidFill>
              </a:rPr>
              <a:t>Выполнила: Пириева Ляман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F6"/>
                </a:solidFill>
              </a:rPr>
              <a:t>Группа: 680.23</a:t>
            </a:r>
            <a:endParaRPr lang="en-US" sz="1300" dirty="0"/>
          </a:p>
          <a:p>
            <a:pPr marL="0" indent="0">
              <a:buNone/>
            </a:pPr>
            <a:r>
              <a:rPr lang="ru-RU" sz="1300" dirty="0" smtClean="0">
                <a:solidFill>
                  <a:srgbClr val="E6EEF6"/>
                </a:solidFill>
              </a:rPr>
              <a:t>Преподаватели</a:t>
            </a:r>
            <a:r>
              <a:rPr lang="en-US" sz="1300" dirty="0" smtClean="0">
                <a:solidFill>
                  <a:srgbClr val="E6EEF6"/>
                </a:solidFill>
              </a:rPr>
              <a:t>: </a:t>
            </a:r>
            <a:r>
              <a:rPr lang="en-US" sz="1300" dirty="0">
                <a:solidFill>
                  <a:srgbClr val="E6EEF6"/>
                </a:solidFill>
              </a:rPr>
              <a:t>Халилов Матлаб, Алиев Джамиль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640080" y="478334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DB9AE"/>
                </a:solidFill>
              </a:rPr>
              <a:t>Веб-системы и технологии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ЦЕЛЬ И ЗАДАЧИ ПРОЕКТА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Что должна выполнять онлайн-справочная система</a:t>
            </a:r>
            <a:endParaRPr lang="en-US" sz="10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420" y="1325880"/>
            <a:ext cx="475488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3258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664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3557"/>
                </a:solidFill>
              </a:rPr>
              <a:t>Цель проекта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148840"/>
            <a:ext cx="44348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создать сайт электронной библиотеки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показать каталог книг в удобном виде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реализовать поиск по названию книги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добавить раздел избранного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сделать форму обратной связи</a:t>
            </a:r>
          </a:p>
        </p:txBody>
      </p:sp>
      <p:sp>
        <p:nvSpPr>
          <p:cNvPr id="9" name="Text 6"/>
          <p:cNvSpPr/>
          <p:nvPr/>
        </p:nvSpPr>
        <p:spPr>
          <a:xfrm>
            <a:off x="914400" y="4800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Проект выполнен на HTML, CSS и JavaScript без серверной части.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403604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664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 dirty="0" smtClean="0">
                <a:solidFill>
                  <a:schemeClr val="accent1">
                    <a:lumMod val="50000"/>
                  </a:schemeClr>
                </a:solidFill>
              </a:rPr>
              <a:t>О ПРОЕКТЕ</a:t>
            </a:r>
            <a:endParaRPr 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2148840"/>
            <a:ext cx="44348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Проект «Электронная библиотека» — это многостраничный веб-сайт, созданный как онлайн-справочная система для поиска и просмотра книг.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Пользователь может: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просматривать каталог книг 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искать книги по названию 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сохранять книги в избранное 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использовать форму обратной связи</a:t>
            </a:r>
          </a:p>
        </p:txBody>
      </p:sp>
      <p:sp>
        <p:nvSpPr>
          <p:cNvPr id="9" name="Text 6"/>
          <p:cNvSpPr/>
          <p:nvPr/>
        </p:nvSpPr>
        <p:spPr>
          <a:xfrm>
            <a:off x="914400" y="4800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Проект выполнен на HTML, CSS и JavaScript без серверной части.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041534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 САЙТА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Сайт состоит из четырёх основных страниц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52" y="1536193"/>
            <a:ext cx="2093976" cy="1874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</a:rPr>
              <a:t>Главная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8952" y="43708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Описание системы и переход в каталог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56432" y="132588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10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024" y="1536192"/>
            <a:ext cx="2093976" cy="1874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21024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</a:rPr>
              <a:t>Каталог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621024" y="43708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Карточки книг и поиск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18504" y="132588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14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096" y="1536192"/>
            <a:ext cx="2093976" cy="1874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83096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</a:rPr>
              <a:t>Избранное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483096" y="43708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Сохранённые пользователем книги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180576" y="132588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18" name="Imag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80" y="1536192"/>
            <a:ext cx="2093976" cy="18745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45168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</a:rPr>
              <a:t>Контакты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345168" y="43708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Форма обратной связи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ИСПОЛЬЗОВАННЫЕ ТЕХНОЛОГИИ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Роль HTML, CSS и JavaScript в проекте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0749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54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3946"/>
                </a:solidFill>
              </a:rPr>
              <a:t>HTML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514600" y="156362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Создаёт структуру страниц: меню, заголовки, карточки книг, формы</a:t>
            </a:r>
            <a:r>
              <a:rPr lang="en-US" sz="1350" dirty="0">
                <a:solidFill>
                  <a:srgbClr val="1F2937"/>
                </a:solidFill>
              </a:rPr>
              <a:t>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50749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57B9D"/>
                </a:solidFill>
              </a:rPr>
              <a:t>CSS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514600" y="298094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Отвечает за оформление: цвета, сетку, карточки, адаптивность.</a:t>
            </a:r>
          </a:p>
        </p:txBody>
      </p:sp>
      <p:sp>
        <p:nvSpPr>
          <p:cNvPr id="11" name="Shape 9"/>
          <p:cNvSpPr/>
          <p:nvPr/>
        </p:nvSpPr>
        <p:spPr>
          <a:xfrm>
            <a:off x="685800" y="4160520"/>
            <a:ext cx="50749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389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</a:rPr>
              <a:t>JavaScript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514600" y="439826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Реализует поиск, избранное, localStorage и проверку формы</a:t>
            </a:r>
            <a:r>
              <a:rPr lang="en-US" sz="1350" dirty="0">
                <a:solidFill>
                  <a:srgbClr val="1F2937"/>
                </a:solidFill>
              </a:rPr>
              <a:t>.</a:t>
            </a:r>
            <a:endParaRPr lang="en-US" sz="1350" dirty="0"/>
          </a:p>
        </p:txBody>
      </p:sp>
      <p:pic>
        <p:nvPicPr>
          <p:cNvPr id="14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253765"/>
            <a:ext cx="5212080" cy="391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48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2991"/>
            <a:ext cx="12191695" cy="6858000"/>
          </a:xfrm>
          <a:prstGeom prst="rect">
            <a:avLst/>
          </a:prstGeom>
          <a:solidFill>
            <a:srgbClr val="1D3557">
              <a:alpha val="84000"/>
            </a:srgbClr>
          </a:solidFill>
          <a:ln w="12700">
            <a:solidFill>
              <a:srgbClr val="1D3557">
                <a:alpha val="0"/>
              </a:srgbClr>
            </a:solidFill>
            <a:prstDash val="solid"/>
          </a:ln>
        </p:spPr>
      </p:sp>
      <p:sp>
        <p:nvSpPr>
          <p:cNvPr id="2" name="TextBox 1"/>
          <p:cNvSpPr txBox="1"/>
          <p:nvPr/>
        </p:nvSpPr>
        <p:spPr>
          <a:xfrm>
            <a:off x="500000" y="300000"/>
            <a:ext cx="746717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HTML: </a:t>
            </a:r>
            <a:r>
              <a:rPr lang="ru-RU" sz="3200" b="1" dirty="0">
                <a:solidFill>
                  <a:schemeClr val="bg1"/>
                </a:solidFill>
              </a:rPr>
              <a:t>базовая структура страницы</a:t>
            </a:r>
            <a:endParaRPr lang="ru-RU" sz="3200" b="1" dirty="0">
              <a:solidFill>
                <a:schemeClr val="bg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38" y="1023840"/>
            <a:ext cx="11835817" cy="53688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/>
          <p:cNvSpPr txBox="1"/>
          <p:nvPr/>
        </p:nvSpPr>
        <p:spPr>
          <a:xfrm>
            <a:off x="6919274" y="1694545"/>
            <a:ext cx="4651202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>
                <a:solidFill>
                  <a:schemeClr val="bg1"/>
                </a:solidFill>
                <a:ea typeface="Aptos Display"/>
              </a:rPr>
              <a:t>Файл</a:t>
            </a:r>
            <a:r>
              <a:rPr lang="en-US" altLang="en-US" sz="2000" dirty="0">
                <a:solidFill>
                  <a:schemeClr val="bg1"/>
                </a:solidFill>
                <a:ea typeface="Aptos Display"/>
              </a:rPr>
              <a:t> index.html</a:t>
            </a:r>
            <a:r>
              <a:rPr lang="en-US" altLang="en-US" sz="1600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ea typeface="Aptos Display"/>
              </a:rPr>
              <a:t>является</a:t>
            </a:r>
            <a:r>
              <a:rPr lang="en-US" altLang="en-US" sz="1600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ea typeface="Aptos Display"/>
              </a:rPr>
              <a:t>главной</a:t>
            </a:r>
            <a:r>
              <a:rPr lang="en-US" altLang="en-US" sz="1600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ea typeface="Aptos Display"/>
              </a:rPr>
              <a:t>страницей</a:t>
            </a:r>
            <a:r>
              <a:rPr lang="en-US" altLang="en-US" sz="1600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ea typeface="Aptos Display"/>
              </a:rPr>
              <a:t>проекта</a:t>
            </a:r>
            <a:r>
              <a:rPr lang="en-US" altLang="en-US" sz="1600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ea typeface="Aptos Display"/>
              </a:rPr>
              <a:t>электронной</a:t>
            </a:r>
            <a:r>
              <a:rPr lang="en-US" altLang="en-US" sz="1600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ea typeface="Aptos Display"/>
              </a:rPr>
              <a:t>библиотеки</a:t>
            </a:r>
            <a:r>
              <a:rPr lang="en-US" altLang="en-US" sz="1600" dirty="0">
                <a:solidFill>
                  <a:schemeClr val="bg1"/>
                </a:solidFill>
                <a:ea typeface="Aptos Display"/>
              </a:rPr>
              <a:t>.</a:t>
            </a:r>
            <a:br>
              <a:rPr lang="en-US" altLang="en-US" sz="1600" dirty="0">
                <a:solidFill>
                  <a:schemeClr val="bg1"/>
                </a:solidFill>
                <a:ea typeface="Aptos Display"/>
              </a:rPr>
            </a:br>
            <a:r>
              <a:rPr lang="en-US" altLang="en-US" sz="1600" dirty="0" err="1">
                <a:solidFill>
                  <a:schemeClr val="bg1"/>
                </a:solidFill>
                <a:ea typeface="Aptos Display"/>
              </a:rPr>
              <a:t>Именно</a:t>
            </a:r>
            <a:r>
              <a:rPr lang="en-US" altLang="en-US" sz="1600" dirty="0">
                <a:solidFill>
                  <a:schemeClr val="bg1"/>
                </a:solidFill>
                <a:ea typeface="Aptos Display"/>
              </a:rPr>
              <a:t> с </a:t>
            </a:r>
            <a:r>
              <a:rPr lang="en-US" altLang="en-US" sz="1600" dirty="0" err="1">
                <a:solidFill>
                  <a:schemeClr val="bg1"/>
                </a:solidFill>
                <a:ea typeface="Aptos Display"/>
              </a:rPr>
              <a:t>этой</a:t>
            </a:r>
            <a:r>
              <a:rPr lang="en-US" altLang="en-US" sz="1600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ea typeface="Aptos Display"/>
              </a:rPr>
              <a:t>страницы</a:t>
            </a:r>
            <a:r>
              <a:rPr lang="en-US" altLang="en-US" sz="1600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ea typeface="Aptos Display"/>
              </a:rPr>
              <a:t>пользователь</a:t>
            </a:r>
            <a:r>
              <a:rPr lang="en-US" altLang="en-US" sz="1600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ea typeface="Aptos Display"/>
              </a:rPr>
              <a:t>начинает</a:t>
            </a:r>
            <a:r>
              <a:rPr lang="en-US" altLang="en-US" sz="1600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ea typeface="Aptos Display"/>
              </a:rPr>
              <a:t>работу</a:t>
            </a:r>
            <a:r>
              <a:rPr lang="en-US" altLang="en-US" sz="1600" dirty="0">
                <a:solidFill>
                  <a:schemeClr val="bg1"/>
                </a:solidFill>
                <a:ea typeface="Aptos Display"/>
              </a:rPr>
              <a:t> с </a:t>
            </a:r>
            <a:r>
              <a:rPr lang="en-US" altLang="en-US" sz="1600" dirty="0" err="1">
                <a:solidFill>
                  <a:schemeClr val="bg1"/>
                </a:solidFill>
                <a:ea typeface="Aptos Display"/>
              </a:rPr>
              <a:t>сайтом</a:t>
            </a:r>
            <a:r>
              <a:rPr lang="en-US" altLang="en-US" sz="1600" dirty="0" smtClean="0">
                <a:solidFill>
                  <a:schemeClr val="bg1"/>
                </a:solidFill>
                <a:ea typeface="Aptos Display"/>
              </a:rPr>
              <a:t>.</a:t>
            </a:r>
            <a:endParaRPr lang="ru-RU" altLang="en-US" sz="1600" dirty="0" smtClean="0">
              <a:solidFill>
                <a:schemeClr val="bg1"/>
              </a:solidFill>
              <a:ea typeface="Aptos Display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chemeClr val="bg1"/>
              </a:solidFill>
              <a:ea typeface="Aptos Display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Главная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страница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содержит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навигационное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меню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название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проекта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описание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системы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кнопки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перехода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изображение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книги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преимущества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сайта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endParaRPr lang="ru-RU" altLang="en-US" dirty="0" smtClean="0">
              <a:solidFill>
                <a:schemeClr val="bg1"/>
              </a:solidFill>
              <a:ea typeface="Aptos Display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ea typeface="Aptos Display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Страница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помогает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пользователю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быстро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понять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назначение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проекта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и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перейти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к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каталогу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Aptos Display"/>
              </a:rPr>
              <a:t>книг</a:t>
            </a:r>
            <a:r>
              <a:rPr lang="en-US" altLang="en-US" dirty="0">
                <a:solidFill>
                  <a:schemeClr val="bg1"/>
                </a:solidFill>
                <a:ea typeface="Aptos Display"/>
              </a:rPr>
              <a:t>.</a:t>
            </a: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634895" y="801367"/>
            <a:ext cx="41148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1" dirty="0">
                <a:solidFill>
                  <a:srgbClr val="E2375B"/>
                </a:solidFill>
              </a:rPr>
              <a:t>ФРАГМЕНТ КОДА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400" b="1" dirty="0">
                <a:solidFill>
                  <a:schemeClr val="accent1">
                    <a:lumMod val="50000"/>
                  </a:schemeClr>
                </a:solidFill>
              </a:rPr>
              <a:t>Подключение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CSS </a:t>
            </a: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</a:rPr>
              <a:t>и шрифтов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799" y="1078992"/>
            <a:ext cx="6497425" cy="125272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743200"/>
            <a:ext cx="6497424" cy="201036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202" y="5029199"/>
            <a:ext cx="6356022" cy="1417321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06" y="1354625"/>
            <a:ext cx="5890810" cy="7014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73" y="3016577"/>
            <a:ext cx="6146276" cy="14636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957" y="5240115"/>
            <a:ext cx="5335571" cy="9954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5" name="Shape 9"/>
          <p:cNvSpPr/>
          <p:nvPr/>
        </p:nvSpPr>
        <p:spPr>
          <a:xfrm>
            <a:off x="7692979" y="5029198"/>
            <a:ext cx="4090526" cy="1417321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6" name="TextBox 25"/>
          <p:cNvSpPr txBox="1"/>
          <p:nvPr/>
        </p:nvSpPr>
        <p:spPr>
          <a:xfrm>
            <a:off x="7826486" y="5158385"/>
            <a:ext cx="3823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solidFill>
                  <a:srgbClr val="00B050"/>
                </a:solidFill>
              </a:rPr>
              <a:t>создаёт</a:t>
            </a:r>
            <a:r>
              <a:rPr lang="en-US" altLang="en-US" sz="1600" b="1" dirty="0">
                <a:solidFill>
                  <a:srgbClr val="00B050"/>
                </a:solidFill>
              </a:rPr>
              <a:t> </a:t>
            </a:r>
            <a:r>
              <a:rPr lang="en-US" altLang="en-US" sz="1600" b="1" dirty="0" err="1">
                <a:solidFill>
                  <a:srgbClr val="00B050"/>
                </a:solidFill>
              </a:rPr>
              <a:t>кнопку</a:t>
            </a:r>
            <a:r>
              <a:rPr lang="en-US" altLang="en-US" sz="1600" b="1" dirty="0">
                <a:solidFill>
                  <a:srgbClr val="00B050"/>
                </a:solidFill>
              </a:rPr>
              <a:t> </a:t>
            </a:r>
            <a:r>
              <a:rPr lang="en-US" altLang="en-US" sz="1600" b="1" dirty="0" err="1">
                <a:solidFill>
                  <a:srgbClr val="00B050"/>
                </a:solidFill>
              </a:rPr>
              <a:t>бургер-меню</a:t>
            </a:r>
            <a:r>
              <a:rPr lang="en-US" altLang="en-US" sz="1600" b="1" dirty="0">
                <a:solidFill>
                  <a:srgbClr val="00B050"/>
                </a:solidFill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solidFill>
                  <a:srgbClr val="00B050"/>
                </a:solidFill>
              </a:rPr>
              <a:t>используется</a:t>
            </a:r>
            <a:r>
              <a:rPr lang="en-US" altLang="en-US" sz="1600" b="1" dirty="0">
                <a:solidFill>
                  <a:srgbClr val="00B050"/>
                </a:solidFill>
              </a:rPr>
              <a:t> </a:t>
            </a:r>
            <a:r>
              <a:rPr lang="en-US" altLang="en-US" sz="1600" b="1" dirty="0" err="1">
                <a:solidFill>
                  <a:srgbClr val="00B050"/>
                </a:solidFill>
              </a:rPr>
              <a:t>на</a:t>
            </a:r>
            <a:r>
              <a:rPr lang="en-US" altLang="en-US" sz="1600" b="1" dirty="0">
                <a:solidFill>
                  <a:srgbClr val="00B050"/>
                </a:solidFill>
              </a:rPr>
              <a:t> </a:t>
            </a:r>
            <a:r>
              <a:rPr lang="en-US" altLang="en-US" sz="1600" b="1" dirty="0" err="1">
                <a:solidFill>
                  <a:srgbClr val="00B050"/>
                </a:solidFill>
              </a:rPr>
              <a:t>мобильных</a:t>
            </a:r>
            <a:r>
              <a:rPr lang="en-US" altLang="en-US" sz="1600" b="1" dirty="0">
                <a:solidFill>
                  <a:srgbClr val="00B050"/>
                </a:solidFill>
              </a:rPr>
              <a:t> </a:t>
            </a:r>
            <a:r>
              <a:rPr lang="en-US" altLang="en-US" sz="1600" b="1" dirty="0" err="1">
                <a:solidFill>
                  <a:srgbClr val="00B050"/>
                </a:solidFill>
              </a:rPr>
              <a:t>устройствах</a:t>
            </a:r>
            <a:r>
              <a:rPr lang="en-US" altLang="en-US" sz="1600" b="1" dirty="0">
                <a:solidFill>
                  <a:srgbClr val="00B050"/>
                </a:solidFill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solidFill>
                  <a:srgbClr val="00B050"/>
                </a:solidFill>
              </a:rPr>
              <a:t>открывает</a:t>
            </a:r>
            <a:r>
              <a:rPr lang="en-US" altLang="en-US" sz="1600" b="1" dirty="0">
                <a:solidFill>
                  <a:srgbClr val="00B050"/>
                </a:solidFill>
              </a:rPr>
              <a:t> и </a:t>
            </a:r>
            <a:r>
              <a:rPr lang="en-US" altLang="en-US" sz="1600" b="1" dirty="0" err="1">
                <a:solidFill>
                  <a:srgbClr val="00B050"/>
                </a:solidFill>
              </a:rPr>
              <a:t>закрывает</a:t>
            </a:r>
            <a:r>
              <a:rPr lang="en-US" altLang="en-US" sz="1600" b="1" dirty="0">
                <a:solidFill>
                  <a:srgbClr val="00B050"/>
                </a:solidFill>
              </a:rPr>
              <a:t> </a:t>
            </a:r>
            <a:r>
              <a:rPr lang="en-US" altLang="en-US" sz="1600" b="1" dirty="0" err="1">
                <a:solidFill>
                  <a:srgbClr val="00B050"/>
                </a:solidFill>
              </a:rPr>
              <a:t>навигацию</a:t>
            </a:r>
            <a:r>
              <a:rPr lang="en-US" altLang="en-US" sz="16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8" name="Shape 6"/>
          <p:cNvSpPr/>
          <p:nvPr/>
        </p:nvSpPr>
        <p:spPr>
          <a:xfrm>
            <a:off x="7692979" y="2743199"/>
            <a:ext cx="4232674" cy="201036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9" name="TextBox 28"/>
          <p:cNvSpPr txBox="1"/>
          <p:nvPr/>
        </p:nvSpPr>
        <p:spPr>
          <a:xfrm>
            <a:off x="7830806" y="2886607"/>
            <a:ext cx="395701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2">
                    <a:lumMod val="75000"/>
                  </a:schemeClr>
                </a:solidFill>
              </a:rPr>
              <a:t>&lt;</a:t>
            </a:r>
            <a:r>
              <a:rPr lang="en-US" altLang="en-US" sz="2000" b="1" dirty="0" err="1">
                <a:solidFill>
                  <a:schemeClr val="accent2">
                    <a:lumMod val="75000"/>
                  </a:schemeClr>
                </a:solidFill>
              </a:rPr>
              <a:t>nav</a:t>
            </a:r>
            <a:r>
              <a:rPr lang="en-US" altLang="en-US" sz="2000" b="1" dirty="0">
                <a:solidFill>
                  <a:schemeClr val="accent2">
                    <a:lumMod val="75000"/>
                  </a:schemeClr>
                </a:solidFill>
              </a:rPr>
              <a:t>&gt;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en-US" sz="1600" b="1" dirty="0" err="1">
                <a:solidFill>
                  <a:schemeClr val="accent2">
                    <a:lumMod val="75000"/>
                  </a:schemeClr>
                </a:solidFill>
              </a:rPr>
              <a:t>создаёт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en-US" sz="1600" b="1" dirty="0" err="1">
                <a:solidFill>
                  <a:schemeClr val="accent2">
                    <a:lumMod val="75000"/>
                  </a:schemeClr>
                </a:solidFill>
              </a:rPr>
              <a:t>меню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en-US" sz="1600" b="1" dirty="0" err="1">
                <a:solidFill>
                  <a:schemeClr val="accent2">
                    <a:lumMod val="75000"/>
                  </a:schemeClr>
                </a:solidFill>
              </a:rPr>
              <a:t>навигации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altLang="en-US" sz="4400" b="1" dirty="0">
              <a:solidFill>
                <a:schemeClr val="accent2">
                  <a:lumMod val="75000"/>
                </a:schemeClr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2">
                    <a:lumMod val="75000"/>
                  </a:schemeClr>
                </a:solidFill>
              </a:rPr>
              <a:t>&lt;a&gt;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en-US" sz="1600" b="1" dirty="0" err="1">
                <a:solidFill>
                  <a:schemeClr val="accent2">
                    <a:lumMod val="75000"/>
                  </a:schemeClr>
                </a:solidFill>
              </a:rPr>
              <a:t>создаёт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en-US" sz="1600" b="1" dirty="0" err="1">
                <a:solidFill>
                  <a:schemeClr val="accent2">
                    <a:lumMod val="75000"/>
                  </a:schemeClr>
                </a:solidFill>
              </a:rPr>
              <a:t>ссылки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en-US" sz="1600" b="1" dirty="0" err="1">
                <a:solidFill>
                  <a:schemeClr val="accent2">
                    <a:lumMod val="75000"/>
                  </a:schemeClr>
                </a:solidFill>
              </a:rPr>
              <a:t>между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en-US" sz="1600" b="1" dirty="0" err="1">
                <a:solidFill>
                  <a:schemeClr val="accent2">
                    <a:lumMod val="75000"/>
                  </a:schemeClr>
                </a:solidFill>
              </a:rPr>
              <a:t>страницами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ru-RU" altLang="en-US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solidFill>
                  <a:schemeClr val="accent2">
                    <a:lumMod val="75000"/>
                  </a:schemeClr>
                </a:solidFill>
              </a:rPr>
              <a:t>Пользователь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en-US" sz="1600" b="1" dirty="0" err="1">
                <a:solidFill>
                  <a:schemeClr val="accent2">
                    <a:lumMod val="75000"/>
                  </a:schemeClr>
                </a:solidFill>
              </a:rPr>
              <a:t>может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en-US" sz="1600" b="1" dirty="0" err="1">
                <a:solidFill>
                  <a:schemeClr val="accent2">
                    <a:lumMod val="75000"/>
                  </a:schemeClr>
                </a:solidFill>
              </a:rPr>
              <a:t>быстро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en-US" sz="1600" b="1" dirty="0" err="1">
                <a:solidFill>
                  <a:schemeClr val="accent2">
                    <a:lumMod val="75000"/>
                  </a:schemeClr>
                </a:solidFill>
              </a:rPr>
              <a:t>переходить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en-US" sz="1600" b="1" dirty="0" err="1">
                <a:solidFill>
                  <a:schemeClr val="accent2">
                    <a:lumMod val="75000"/>
                  </a:schemeClr>
                </a:solidFill>
              </a:rPr>
              <a:t>между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en-US" sz="1600" b="1" dirty="0" err="1">
                <a:solidFill>
                  <a:schemeClr val="accent2">
                    <a:lumMod val="75000"/>
                  </a:schemeClr>
                </a:solidFill>
              </a:rPr>
              <a:t>разделами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en-US" sz="1600" b="1" dirty="0" err="1">
                <a:solidFill>
                  <a:schemeClr val="accent2">
                    <a:lumMod val="75000"/>
                  </a:schemeClr>
                </a:solidFill>
              </a:rPr>
              <a:t>сайта</a:t>
            </a: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en-US" altLang="en-US" sz="4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Shape 3"/>
          <p:cNvSpPr/>
          <p:nvPr/>
        </p:nvSpPr>
        <p:spPr>
          <a:xfrm>
            <a:off x="7692978" y="1078992"/>
            <a:ext cx="4232673" cy="125272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2" name="TextBox 31"/>
          <p:cNvSpPr txBox="1"/>
          <p:nvPr/>
        </p:nvSpPr>
        <p:spPr>
          <a:xfrm>
            <a:off x="7914311" y="1178157"/>
            <a:ext cx="38735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&lt;link&gt;</a:t>
            </a:r>
            <a:r>
              <a:rPr lang="en-US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1400" b="1" dirty="0" err="1">
                <a:solidFill>
                  <a:schemeClr val="accent1">
                    <a:lumMod val="75000"/>
                  </a:schemeClr>
                </a:solidFill>
              </a:rPr>
              <a:t>подключает</a:t>
            </a:r>
            <a:r>
              <a:rPr lang="en-US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1400" b="1" dirty="0" err="1">
                <a:solidFill>
                  <a:schemeClr val="accent1">
                    <a:lumMod val="75000"/>
                  </a:schemeClr>
                </a:solidFill>
              </a:rPr>
              <a:t>внешние</a:t>
            </a:r>
            <a:r>
              <a:rPr lang="en-US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1400" b="1" dirty="0" err="1">
                <a:solidFill>
                  <a:schemeClr val="accent1">
                    <a:lumMod val="75000"/>
                  </a:schemeClr>
                </a:solidFill>
              </a:rPr>
              <a:t>файлы</a:t>
            </a:r>
            <a:r>
              <a:rPr lang="en-US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US" altLang="en-US" sz="40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fonts.googleapis.com</a:t>
            </a:r>
            <a:r>
              <a:rPr lang="en-US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1400" b="1" dirty="0" err="1">
                <a:solidFill>
                  <a:schemeClr val="accent1">
                    <a:lumMod val="75000"/>
                  </a:schemeClr>
                </a:solidFill>
              </a:rPr>
              <a:t>подключает</a:t>
            </a:r>
            <a:r>
              <a:rPr lang="en-US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1400" b="1" dirty="0" err="1">
                <a:solidFill>
                  <a:schemeClr val="accent1">
                    <a:lumMod val="75000"/>
                  </a:schemeClr>
                </a:solidFill>
              </a:rPr>
              <a:t>шрифты</a:t>
            </a:r>
            <a:r>
              <a:rPr lang="en-US" altLang="en-US" sz="1400" b="1" dirty="0">
                <a:solidFill>
                  <a:schemeClr val="accent1">
                    <a:lumMod val="75000"/>
                  </a:schemeClr>
                </a:solidFill>
              </a:rPr>
              <a:t> Google </a:t>
            </a:r>
            <a:r>
              <a:rPr lang="en-US" altLang="en-US" sz="1400" b="1" dirty="0" smtClean="0">
                <a:solidFill>
                  <a:schemeClr val="accent1">
                    <a:lumMod val="75000"/>
                  </a:schemeClr>
                </a:solidFill>
              </a:rPr>
              <a:t>Fonts</a:t>
            </a:r>
            <a:endParaRPr lang="ru-RU" altLang="en-US" sz="14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en-US" sz="14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" y="837081"/>
            <a:ext cx="41148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1" dirty="0">
                <a:solidFill>
                  <a:srgbClr val="E2375B"/>
                </a:solidFill>
              </a:rPr>
              <a:t>ФРАГМЕНТ КОДА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>
              <a:alpha val="84000"/>
            </a:srgbClr>
          </a:solidFill>
          <a:ln w="12700">
            <a:solidFill>
              <a:srgbClr val="1D3557">
                <a:alpha val="0"/>
              </a:srgbClr>
            </a:solidFill>
            <a:prstDash val="solid"/>
          </a:ln>
        </p:spPr>
      </p:sp>
      <p:sp>
        <p:nvSpPr>
          <p:cNvPr id="21" name="Прямоугольник 20"/>
          <p:cNvSpPr/>
          <p:nvPr/>
        </p:nvSpPr>
        <p:spPr>
          <a:xfrm>
            <a:off x="0" y="761665"/>
            <a:ext cx="12192000" cy="609633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15159" y="234012"/>
            <a:ext cx="49550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lang="en-US" b="1" dirty="0" smtClean="0">
                <a:solidFill>
                  <a:schemeClr val="bg1"/>
                </a:solidFill>
              </a:rPr>
              <a:t>CSS </a:t>
            </a:r>
            <a:r>
              <a:rPr lang="ru-RU" b="1" dirty="0" smtClean="0">
                <a:solidFill>
                  <a:schemeClr val="bg1"/>
                </a:solidFill>
              </a:rPr>
              <a:t>И АДАПТИВНОСТЬ САЙТА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23" name="Shape 3"/>
          <p:cNvSpPr/>
          <p:nvPr/>
        </p:nvSpPr>
        <p:spPr>
          <a:xfrm>
            <a:off x="594360" y="1325879"/>
            <a:ext cx="5349240" cy="5188043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26" name="Скругленный прямоугольник 25"/>
          <p:cNvSpPr/>
          <p:nvPr/>
        </p:nvSpPr>
        <p:spPr>
          <a:xfrm>
            <a:off x="6135911" y="1074656"/>
            <a:ext cx="5863472" cy="5265129"/>
          </a:xfrm>
          <a:prstGeom prst="round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000"/>
                      </a14:imgEffect>
                      <a14:imgEffect>
                        <a14:saturation sat="98000"/>
                      </a14:imgEffect>
                      <a14:imgEffect>
                        <a14:brightnessContrast contras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96" t="-251" r="-27974" b="-10898"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endParaRPr lang="en-US"/>
          </a:p>
        </p:txBody>
      </p:sp>
      <p:sp>
        <p:nvSpPr>
          <p:cNvPr id="29" name="Прямоугольник 28"/>
          <p:cNvSpPr/>
          <p:nvPr/>
        </p:nvSpPr>
        <p:spPr>
          <a:xfrm>
            <a:off x="786669" y="4459830"/>
            <a:ext cx="4223208" cy="19607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58893" y="1685419"/>
            <a:ext cx="441812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CSS отвечает за внешний вид сайта.</a:t>
            </a: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С помощью CSS изменяются:</a:t>
            </a: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цвета </a:t>
            </a: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размеры </a:t>
            </a: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расположение элементов </a:t>
            </a: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шрифты </a:t>
            </a: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отступы </a:t>
            </a: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анимации </a:t>
            </a:r>
          </a:p>
          <a:p>
            <a:r>
              <a:rPr lang="ru-RU" dirty="0" smtClean="0">
                <a:solidFill>
                  <a:schemeClr val="accent1">
                    <a:lumMod val="50000"/>
                  </a:schemeClr>
                </a:solidFill>
              </a:rPr>
              <a:t>Адаптивность</a:t>
            </a:r>
          </a:p>
          <a:p>
            <a:endParaRPr lang="ru-RU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rgbClr val="EE7EDB"/>
                </a:solidFill>
              </a:rPr>
              <a:t>@media</a:t>
            </a:r>
            <a:r>
              <a:rPr lang="en-US" dirty="0">
                <a:solidFill>
                  <a:schemeClr val="bg1"/>
                </a:solidFill>
              </a:rPr>
              <a:t>(max-width: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768</a:t>
            </a:r>
            <a:r>
              <a:rPr lang="en-US" dirty="0">
                <a:solidFill>
                  <a:srgbClr val="EE7EDB"/>
                </a:solidFill>
              </a:rPr>
              <a:t>px</a:t>
            </a:r>
            <a:r>
              <a:rPr lang="en-US" dirty="0">
                <a:solidFill>
                  <a:schemeClr val="bg1"/>
                </a:solidFill>
              </a:rPr>
              <a:t>){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dirty="0">
                <a:solidFill>
                  <a:schemeClr val="bg1"/>
                </a:solidFill>
              </a:rPr>
              <a:t>.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cards</a:t>
            </a:r>
            <a:r>
              <a:rPr lang="en-US" dirty="0">
                <a:solidFill>
                  <a:schemeClr val="bg1"/>
                </a:solidFill>
              </a:rPr>
              <a:t>{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</a:t>
            </a:r>
            <a:r>
              <a:rPr lang="en-US" dirty="0">
                <a:solidFill>
                  <a:schemeClr val="bg1"/>
                </a:solidFill>
              </a:rPr>
              <a:t>grid-template-columns: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US" dirty="0">
                <a:solidFill>
                  <a:srgbClr val="EE7EDB"/>
                </a:solidFill>
              </a:rPr>
              <a:t>fr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  <a:r>
              <a:rPr lang="ru-RU" dirty="0" smtClean="0">
                <a:solidFill>
                  <a:schemeClr val="bg1"/>
                </a:solidFill>
              </a:rPr>
              <a:t> </a:t>
            </a:r>
            <a:endParaRPr lang="ru-RU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ОСНОВНЫЕ ФУНКЦИИ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Что пользователь может делать на сайте</a:t>
            </a:r>
            <a:endParaRPr lang="en-US" sz="1050" dirty="0"/>
          </a:p>
        </p:txBody>
      </p:sp>
      <p:pic>
        <p:nvPicPr>
          <p:cNvPr id="5" name="Image 0" descr="/mnt/data/electronic_library_final_site/download.jpg"/>
          <p:cNvPicPr>
            <a:picLocks noChangeAspect="1"/>
          </p:cNvPicPr>
          <p:nvPr/>
        </p:nvPicPr>
        <p:blipFill>
          <a:blip r:embed="rId3"/>
          <a:srcRect t="10222" b="10222"/>
          <a:stretch/>
        </p:blipFill>
        <p:spPr>
          <a:xfrm>
            <a:off x="333120" y="1828800"/>
            <a:ext cx="2082381" cy="3017520"/>
          </a:xfrm>
          <a:prstGeom prst="rect">
            <a:avLst/>
          </a:prstGeom>
        </p:spPr>
      </p:pic>
      <p:pic>
        <p:nvPicPr>
          <p:cNvPr id="6" name="Image 1" descr="/mnt/data/electronic_library_final_site/download (1).jpg"/>
          <p:cNvPicPr>
            <a:picLocks noChangeAspect="1"/>
          </p:cNvPicPr>
          <p:nvPr/>
        </p:nvPicPr>
        <p:blipFill>
          <a:blip r:embed="rId4"/>
          <a:srcRect t="6835" b="6835"/>
          <a:stretch/>
        </p:blipFill>
        <p:spPr>
          <a:xfrm>
            <a:off x="2620652" y="1828800"/>
            <a:ext cx="1791328" cy="3017520"/>
          </a:xfrm>
          <a:prstGeom prst="rect">
            <a:avLst/>
          </a:prstGeom>
        </p:spPr>
      </p:pic>
      <p:pic>
        <p:nvPicPr>
          <p:cNvPr id="7" name="Image 2" descr="/mnt/data/electronic_library_final_site/download (7).jpg"/>
          <p:cNvPicPr>
            <a:picLocks noChangeAspect="1"/>
          </p:cNvPicPr>
          <p:nvPr/>
        </p:nvPicPr>
        <p:blipFill>
          <a:blip r:embed="rId5"/>
          <a:srcRect t="1414" b="1414"/>
          <a:stretch/>
        </p:blipFill>
        <p:spPr>
          <a:xfrm>
            <a:off x="4617720" y="1828800"/>
            <a:ext cx="1811360" cy="30175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720840" y="1531620"/>
            <a:ext cx="448056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086600" y="1645920"/>
            <a:ext cx="361188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просмотр каталога книг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поиск по названию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добавление книги в избранное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сохранение избранного через localStorage</a:t>
            </a:r>
          </a:p>
          <a:p>
            <a:r>
              <a:rPr lang="en-US" sz="1600" dirty="0" err="1" smtClean="0">
                <a:solidFill>
                  <a:schemeClr val="accent1">
                    <a:lumMod val="50000"/>
                  </a:schemeClr>
                </a:solidFill>
              </a:rPr>
              <a:t>отправка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сообщения через форму</a:t>
            </a:r>
          </a:p>
        </p:txBody>
      </p:sp>
      <p:sp>
        <p:nvSpPr>
          <p:cNvPr id="10" name="Text 5"/>
          <p:cNvSpPr/>
          <p:nvPr/>
        </p:nvSpPr>
        <p:spPr>
          <a:xfrm>
            <a:off x="6720840" y="5353953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Функции реализованы средствами JavaScript и работают без перезагрузки страницы.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400" b="1" dirty="0" smtClean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ПОИСК КНИГ</a:t>
            </a:r>
            <a:endParaRPr lang="en-US" sz="2400" dirty="0"/>
          </a:p>
        </p:txBody>
      </p:sp>
      <p:sp>
        <p:nvSpPr>
          <p:cNvPr id="8" name="Shape 3"/>
          <p:cNvSpPr/>
          <p:nvPr/>
        </p:nvSpPr>
        <p:spPr>
          <a:xfrm>
            <a:off x="6650916" y="1110713"/>
            <a:ext cx="5374386" cy="2262904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876288" y="1073619"/>
            <a:ext cx="361188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ru-RU" sz="1600" b="1" dirty="0">
                <a:solidFill>
                  <a:schemeClr val="accent1">
                    <a:lumMod val="50000"/>
                  </a:schemeClr>
                </a:solidFill>
              </a:rPr>
              <a:t>Как работает поиск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При вводе текста </a:t>
            </a:r>
            <a:r>
              <a:rPr lang="ru-RU" sz="1600" dirty="0" err="1">
                <a:solidFill>
                  <a:schemeClr val="accent1">
                    <a:lumMod val="50000"/>
                  </a:schemeClr>
                </a:solidFill>
              </a:rPr>
              <a:t>JavaScript</a:t>
            </a:r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 получает значение </a:t>
            </a:r>
            <a:r>
              <a:rPr lang="ru-RU" sz="1600" dirty="0" err="1">
                <a:solidFill>
                  <a:schemeClr val="accent1">
                    <a:lumMod val="50000"/>
                  </a:schemeClr>
                </a:solidFill>
              </a:rPr>
              <a:t>input</a:t>
            </a:r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 и сравнивает его с названиями книг</a:t>
            </a:r>
            <a:r>
              <a:rPr lang="ru-RU" sz="16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r>
              <a:rPr lang="ru-RU" sz="1600" b="1" dirty="0">
                <a:solidFill>
                  <a:schemeClr val="accent1">
                    <a:lumMod val="50000"/>
                  </a:schemeClr>
                </a:solidFill>
              </a:rPr>
              <a:t>Что делает код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получает текст пользователя 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сравнивает строки 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скрывает неподходящие книги</a:t>
            </a:r>
          </a:p>
          <a:p>
            <a:endParaRPr lang="ru-RU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5"/>
          <p:cNvSpPr/>
          <p:nvPr/>
        </p:nvSpPr>
        <p:spPr>
          <a:xfrm>
            <a:off x="1001268" y="6158295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Функции реализованы средствами JavaScript и работают без перезагрузки страницы.</a:t>
            </a:r>
            <a:endParaRPr lang="en-US" sz="13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72" y="1340217"/>
            <a:ext cx="5976594" cy="4425216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916" y="3679658"/>
            <a:ext cx="5374386" cy="25736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32837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DEBOUNCE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1772239"/>
            <a:ext cx="5623089" cy="29788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Shape 3"/>
          <p:cNvSpPr/>
          <p:nvPr/>
        </p:nvSpPr>
        <p:spPr>
          <a:xfrm>
            <a:off x="6172200" y="1325880"/>
            <a:ext cx="4983480" cy="5120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796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400" b="1" dirty="0">
                <a:solidFill>
                  <a:schemeClr val="accent1">
                    <a:lumMod val="50000"/>
                  </a:schemeClr>
                </a:solidFill>
              </a:rPr>
              <a:t>Что такое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debounce</a:t>
            </a: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537960" y="2148839"/>
            <a:ext cx="4023360" cy="292278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r>
              <a:rPr lang="ru-RU" sz="1600" dirty="0" err="1" smtClean="0">
                <a:solidFill>
                  <a:schemeClr val="accent1">
                    <a:lumMod val="50000"/>
                  </a:schemeClr>
                </a:solidFill>
              </a:rPr>
              <a:t>Debounce</a:t>
            </a:r>
            <a:r>
              <a:rPr lang="ru-RU" sz="1600" dirty="0" smtClean="0">
                <a:solidFill>
                  <a:schemeClr val="accent1">
                    <a:lumMod val="50000"/>
                  </a:schemeClr>
                </a:solidFill>
              </a:rPr>
              <a:t> — это задержка выполнения функции.</a:t>
            </a:r>
          </a:p>
          <a:p>
            <a:r>
              <a:rPr lang="ru-RU" sz="1600" dirty="0" smtClean="0">
                <a:solidFill>
                  <a:schemeClr val="accent1">
                    <a:lumMod val="50000"/>
                  </a:schemeClr>
                </a:solidFill>
              </a:rPr>
              <a:t>Она используется для того, чтобы поиск не запускался слишком часто во время ввода текста.</a:t>
            </a:r>
          </a:p>
          <a:p>
            <a:endParaRPr lang="ru-RU" sz="16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Что</a:t>
            </a:r>
            <a:r>
              <a:rPr lang="en-US" altLang="en-US" sz="16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b="1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делает</a:t>
            </a:r>
            <a:r>
              <a:rPr lang="en-US" altLang="en-US" sz="16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b="1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код</a:t>
            </a:r>
            <a:endParaRPr lang="en-US" altLang="en-US" sz="16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 smtClean="0">
                <a:solidFill>
                  <a:schemeClr val="accent1">
                    <a:lumMod val="50000"/>
                  </a:schemeClr>
                </a:solidFill>
                <a:latin typeface="Arial Unicode MS"/>
              </a:rPr>
              <a:t>clearTimeout</a:t>
            </a:r>
            <a:r>
              <a:rPr lang="en-US" altLang="en-US" dirty="0" smtClean="0">
                <a:solidFill>
                  <a:schemeClr val="accent1">
                    <a:lumMod val="50000"/>
                  </a:schemeClr>
                </a:solidFill>
                <a:latin typeface="Arial Unicode MS"/>
              </a:rPr>
              <a:t>()</a:t>
            </a:r>
            <a:r>
              <a:rPr lang="en-US" altLang="en-US" sz="14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en-US" sz="1600" dirty="0" err="1" smtClean="0">
                <a:solidFill>
                  <a:schemeClr val="accent1">
                    <a:lumMod val="50000"/>
                  </a:schemeClr>
                </a:solidFill>
              </a:rPr>
              <a:t>очищает</a:t>
            </a:r>
            <a:r>
              <a:rPr lang="en-US" altLang="en-US" sz="16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en-US" sz="1600" dirty="0" err="1" smtClean="0">
                <a:solidFill>
                  <a:schemeClr val="accent1">
                    <a:lumMod val="50000"/>
                  </a:schemeClr>
                </a:solidFill>
              </a:rPr>
              <a:t>прошлый</a:t>
            </a:r>
            <a:r>
              <a:rPr lang="en-US" altLang="en-US" sz="16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en-US" sz="1600" dirty="0" err="1" smtClean="0">
                <a:solidFill>
                  <a:schemeClr val="accent1">
                    <a:lumMod val="50000"/>
                  </a:schemeClr>
                </a:solidFill>
              </a:rPr>
              <a:t>таймер</a:t>
            </a:r>
            <a:r>
              <a:rPr lang="en-US" altLang="en-US" sz="16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n-US" altLang="en-US" sz="40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 smtClean="0">
                <a:solidFill>
                  <a:schemeClr val="accent1">
                    <a:lumMod val="50000"/>
                  </a:schemeClr>
                </a:solidFill>
                <a:latin typeface="Arial Unicode MS"/>
              </a:rPr>
              <a:t>setTimeout</a:t>
            </a:r>
            <a:r>
              <a:rPr lang="en-US" altLang="en-US" dirty="0" smtClean="0">
                <a:solidFill>
                  <a:schemeClr val="accent1">
                    <a:lumMod val="50000"/>
                  </a:schemeClr>
                </a:solidFill>
                <a:latin typeface="Arial Unicode MS"/>
              </a:rPr>
              <a:t>()</a:t>
            </a:r>
            <a:r>
              <a:rPr lang="en-US" altLang="en-US" sz="14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en-US" sz="1600" dirty="0" err="1" smtClean="0">
                <a:solidFill>
                  <a:schemeClr val="accent1">
                    <a:lumMod val="50000"/>
                  </a:schemeClr>
                </a:solidFill>
              </a:rPr>
              <a:t>создаёт</a:t>
            </a:r>
            <a:r>
              <a:rPr lang="en-US" altLang="en-US" sz="16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en-US" sz="1600" dirty="0" err="1" smtClean="0">
                <a:solidFill>
                  <a:schemeClr val="accent1">
                    <a:lumMod val="50000"/>
                  </a:schemeClr>
                </a:solidFill>
              </a:rPr>
              <a:t>новый</a:t>
            </a:r>
            <a:r>
              <a:rPr lang="en-US" altLang="en-US" sz="16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en-US" sz="1600" dirty="0" err="1" smtClean="0">
                <a:solidFill>
                  <a:schemeClr val="accent1">
                    <a:lumMod val="50000"/>
                  </a:schemeClr>
                </a:solidFill>
              </a:rPr>
              <a:t>таймер</a:t>
            </a:r>
            <a:r>
              <a:rPr lang="en-US" altLang="en-US" sz="16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n-US" altLang="en-US" sz="4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функция</a:t>
            </a:r>
            <a:r>
              <a:rPr lang="en-US" altLang="en-US" sz="20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запускается</a:t>
            </a:r>
            <a:r>
              <a:rPr lang="en-US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только</a:t>
            </a:r>
            <a:r>
              <a:rPr lang="en-US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после</a:t>
            </a:r>
            <a:r>
              <a:rPr lang="en-US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паузы</a:t>
            </a:r>
            <a:endParaRPr lang="en-US" altLang="en-US" sz="16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endParaRPr lang="ru-RU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606540" y="555333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ru-RU" sz="1200" dirty="0">
                <a:solidFill>
                  <a:schemeClr val="accent3">
                    <a:lumMod val="75000"/>
                  </a:schemeClr>
                </a:solidFill>
              </a:rPr>
              <a:t>Результат</a:t>
            </a:r>
            <a:r>
              <a:rPr lang="en-US" sz="1200" dirty="0" smtClean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ru-RU" sz="1200" dirty="0">
                <a:solidFill>
                  <a:schemeClr val="accent3">
                    <a:lumMod val="75000"/>
                  </a:schemeClr>
                </a:solidFill>
              </a:rPr>
              <a:t>Поиск работает плавно и не нагружает страницу</a:t>
            </a:r>
            <a:r>
              <a:rPr lang="ru-RU" sz="1200" dirty="0" smtClean="0">
                <a:solidFill>
                  <a:schemeClr val="accent3">
                    <a:lumMod val="75000"/>
                  </a:schemeClr>
                </a:solidFill>
              </a:rPr>
              <a:t>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248636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LOCALSTORAGE </a:t>
            </a: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</a:rPr>
              <a:t>И ИЗБРАННОЕ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7" y="1809946"/>
            <a:ext cx="5665509" cy="17628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Shape 3"/>
          <p:cNvSpPr/>
          <p:nvPr/>
        </p:nvSpPr>
        <p:spPr>
          <a:xfrm>
            <a:off x="6400800" y="1325880"/>
            <a:ext cx="4983480" cy="4339629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45897" y="1783784"/>
            <a:ext cx="4660141" cy="355602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ru-RU" sz="2400" b="1" dirty="0">
                <a:solidFill>
                  <a:schemeClr val="accent1">
                    <a:lumMod val="50000"/>
                  </a:schemeClr>
                </a:solidFill>
              </a:rPr>
              <a:t>Как работает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избранное</a:t>
            </a:r>
            <a:endParaRPr lang="en-US" sz="24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Пользователь может сохранять книги в избранное.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Данные сохраняются в </a:t>
            </a:r>
            <a:r>
              <a:rPr lang="ru-RU" sz="1600" dirty="0" err="1">
                <a:solidFill>
                  <a:schemeClr val="accent1">
                    <a:lumMod val="50000"/>
                  </a:schemeClr>
                </a:solidFill>
              </a:rPr>
              <a:t>localStorage</a:t>
            </a:r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 браузера</a:t>
            </a:r>
            <a:r>
              <a:rPr lang="ru-RU" sz="16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en-US" sz="1600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Данный код: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создаёт систему избранного 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сохраняет книги 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загружает сохранённые данные 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защищает программу от ошибок </a:t>
            </a:r>
          </a:p>
          <a:p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обеспечивает сохранение данных после обновления страницы</a:t>
            </a:r>
          </a:p>
          <a:p>
            <a:endParaRPr lang="ru-RU" sz="1600" dirty="0"/>
          </a:p>
          <a:p>
            <a:endParaRPr lang="ru-RU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926" y="4883085"/>
            <a:ext cx="55146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3">
                    <a:lumMod val="50000"/>
                  </a:schemeClr>
                </a:solidFill>
              </a:rPr>
              <a:t>Итог работы функции</a:t>
            </a:r>
          </a:p>
          <a:p>
            <a:r>
              <a:rPr lang="ru-RU" dirty="0">
                <a:solidFill>
                  <a:schemeClr val="accent3">
                    <a:lumMod val="50000"/>
                  </a:schemeClr>
                </a:solidFill>
              </a:rPr>
              <a:t>Пользователь может:</a:t>
            </a:r>
          </a:p>
          <a:p>
            <a:r>
              <a:rPr lang="ru-RU" dirty="0">
                <a:solidFill>
                  <a:schemeClr val="accent3">
                    <a:lumMod val="50000"/>
                  </a:schemeClr>
                </a:solidFill>
              </a:rPr>
              <a:t>добавлять книги в избранное </a:t>
            </a:r>
          </a:p>
          <a:p>
            <a:r>
              <a:rPr lang="ru-RU" dirty="0">
                <a:solidFill>
                  <a:schemeClr val="accent3">
                    <a:lumMod val="50000"/>
                  </a:schemeClr>
                </a:solidFill>
              </a:rPr>
              <a:t>возвращаться к сохранённым книгам </a:t>
            </a:r>
          </a:p>
          <a:p>
            <a:r>
              <a:rPr lang="ru-RU" dirty="0">
                <a:solidFill>
                  <a:schemeClr val="accent3">
                    <a:lumMod val="50000"/>
                  </a:schemeClr>
                </a:solidFill>
              </a:rPr>
              <a:t>не терять данные после перезагрузки сайта.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251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400" b="1" dirty="0">
                <a:solidFill>
                  <a:schemeClr val="accent1">
                    <a:lumMod val="50000"/>
                  </a:schemeClr>
                </a:solidFill>
              </a:rPr>
              <a:t>ФОРМА ОБРАТНОЙ СВЯЗИ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1473975"/>
            <a:ext cx="4983480" cy="4339629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7138" y="1865777"/>
            <a:ext cx="4660141" cy="355602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ru-RU" sz="2000" b="1" dirty="0">
                <a:solidFill>
                  <a:schemeClr val="accent1">
                    <a:lumMod val="50000"/>
                  </a:schemeClr>
                </a:solidFill>
              </a:rPr>
              <a:t>Как работает форма</a:t>
            </a:r>
          </a:p>
          <a:p>
            <a:r>
              <a:rPr lang="ru-RU" sz="2000" dirty="0" err="1">
                <a:solidFill>
                  <a:schemeClr val="accent1">
                    <a:lumMod val="50000"/>
                  </a:schemeClr>
                </a:solidFill>
              </a:rPr>
              <a:t>JavaScript</a:t>
            </a:r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 проверяет </a:t>
            </a:r>
            <a:r>
              <a:rPr lang="ru-RU" sz="2000" dirty="0" err="1">
                <a:solidFill>
                  <a:schemeClr val="accent1">
                    <a:lumMod val="50000"/>
                  </a:schemeClr>
                </a:solidFill>
              </a:rPr>
              <a:t>заполненность</a:t>
            </a:r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 полей перед отправкой</a:t>
            </a:r>
            <a:r>
              <a:rPr lang="ru-RU" sz="20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en-US" sz="2000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ru-RU" sz="2000" b="1" dirty="0">
                <a:solidFill>
                  <a:schemeClr val="accent1">
                    <a:lumMod val="50000"/>
                  </a:schemeClr>
                </a:solidFill>
              </a:rPr>
              <a:t>Что делает код</a:t>
            </a:r>
          </a:p>
          <a:p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проверяет пустые поля </a:t>
            </a:r>
          </a:p>
          <a:p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показывает уведомление </a:t>
            </a:r>
          </a:p>
          <a:p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останавливает </a:t>
            </a:r>
            <a:r>
              <a:rPr lang="ru-RU" sz="2000" dirty="0" smtClean="0">
                <a:solidFill>
                  <a:schemeClr val="accent1">
                    <a:lumMod val="50000"/>
                  </a:schemeClr>
                </a:solidFill>
              </a:rPr>
              <a:t>отправку</a:t>
            </a:r>
            <a:endParaRPr lang="en-US" sz="2000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ru-RU" sz="20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Пользователь не может отправить пустую форму.</a:t>
            </a:r>
          </a:p>
          <a:p>
            <a:endParaRPr lang="ru-RU" sz="1600" dirty="0"/>
          </a:p>
          <a:p>
            <a:endParaRPr lang="ru-RU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155" y="1795430"/>
            <a:ext cx="5529763" cy="33882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75669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 И ВЫВОД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Итог выполненной курсовой работы</a:t>
            </a:r>
            <a:endParaRPr lang="en-US" sz="10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19" y="1216058"/>
            <a:ext cx="5486400" cy="39875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95060" y="1165449"/>
            <a:ext cx="4983480" cy="4961798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48125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</a:rPr>
              <a:t>Итог: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83680" y="1982928"/>
            <a:ext cx="4023360" cy="32206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В ходе курсовой работы был разработан многостраничный сайт электронной библиотеки с каталогом книг, поиском, избранным и формой обратной связи.</a:t>
            </a:r>
          </a:p>
          <a:p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В проекте использовались HTML, CSS и </a:t>
            </a:r>
            <a:r>
              <a:rPr lang="ru-RU" sz="1400" dirty="0" err="1">
                <a:solidFill>
                  <a:schemeClr val="accent1">
                    <a:lumMod val="50000"/>
                  </a:schemeClr>
                </a:solidFill>
              </a:rPr>
              <a:t>JavaScript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br>
              <a:rPr lang="ru-RU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HTML создаёт структуру страниц, CSS отвечает за оформление и адаптивность, а </a:t>
            </a:r>
            <a:r>
              <a:rPr lang="ru-RU" sz="1400" dirty="0" err="1">
                <a:solidFill>
                  <a:schemeClr val="accent1">
                    <a:lumMod val="50000"/>
                  </a:schemeClr>
                </a:solidFill>
              </a:rPr>
              <a:t>JavaScript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 реализует интерактивные функции сайта.</a:t>
            </a:r>
          </a:p>
          <a:p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Были реализованы:</a:t>
            </a:r>
          </a:p>
          <a:p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поиск книг </a:t>
            </a:r>
          </a:p>
          <a:p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система избранного через </a:t>
            </a:r>
            <a:r>
              <a:rPr lang="ru-RU" sz="1400" dirty="0" err="1">
                <a:solidFill>
                  <a:schemeClr val="accent1">
                    <a:lumMod val="50000"/>
                  </a:schemeClr>
                </a:solidFill>
              </a:rPr>
              <a:t>localStorage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проверка формы </a:t>
            </a:r>
          </a:p>
          <a:p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адаптивный интерфейс </a:t>
            </a:r>
          </a:p>
        </p:txBody>
      </p:sp>
      <p:sp>
        <p:nvSpPr>
          <p:cNvPr id="9" name="Text 6"/>
          <p:cNvSpPr/>
          <p:nvPr/>
        </p:nvSpPr>
        <p:spPr>
          <a:xfrm>
            <a:off x="6583680" y="5452813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Вывод: сайт демонстрирует основные навыки фронтенд-разработки и подходит под тему онлайн-справочной системы.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2047</TotalTime>
  <Words>604</Words>
  <Application>Microsoft Office PowerPoint</Application>
  <PresentationFormat>Широкоэкранный</PresentationFormat>
  <Paragraphs>158</Paragraphs>
  <Slides>14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Arial Unicode MS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ASOIU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Электронная библиотека</dc:title>
  <dc:subject>Курсовая работа</dc:subject>
  <dc:creator>OpenAI</dc:creator>
  <cp:lastModifiedBy>user</cp:lastModifiedBy>
  <cp:revision>21</cp:revision>
  <dcterms:created xsi:type="dcterms:W3CDTF">2026-05-10T14:11:55Z</dcterms:created>
  <dcterms:modified xsi:type="dcterms:W3CDTF">2026-05-13T14:50:09Z</dcterms:modified>
</cp:coreProperties>
</file>